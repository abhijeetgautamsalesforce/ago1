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2" d="100"/>
          <a:sy n="62" d="100"/>
        </p:scale>
        <p:origin x="1400" y="2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Option 1: New AFSL in RA Instance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3200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New AFSL in RA Instance</a:t>
            </a:r>
          </a:p>
          <a:p>
            <a:r>
              <a:t>Existing Instance -&gt; Data Store (B/S/A)</a:t>
            </a:r>
          </a:p>
          <a:p>
            <a:r>
              <a:t>Minimal Access to B/S/A</a:t>
            </a:r>
          </a:p>
          <a:p>
            <a:r>
              <a:t>Minimal Data Transfer From B/S/A to RA</a:t>
            </a:r>
          </a:p>
          <a:p>
            <a:r>
              <a:t>New Adv Record</a:t>
            </a:r>
          </a:p>
          <a:p>
            <a:r>
              <a:t>IDS loads CSI history to new license?</a:t>
            </a:r>
          </a:p>
          <a:p>
            <a:r>
              <a:t>AI enabled (onboarding)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1371600"/>
            <a:ext cx="2286000" cy="3200400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0" y="10972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/>
            </a:pPr>
            <a:r>
              <a:t>RA</a:t>
            </a:r>
          </a:p>
        </p:txBody>
      </p:sp>
      <p:sp>
        <p:nvSpPr>
          <p:cNvPr id="6" name="Rectangle 5"/>
          <p:cNvSpPr/>
          <p:nvPr/>
        </p:nvSpPr>
        <p:spPr>
          <a:xfrm>
            <a:off x="4297680" y="1554480"/>
            <a:ext cx="548640" cy="457200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0070C0"/>
                </a:solidFill>
              </a:defRPr>
            </a:pPr>
            <a:r>
              <a:t>RI</a:t>
            </a:r>
          </a:p>
        </p:txBody>
      </p:sp>
      <p:sp>
        <p:nvSpPr>
          <p:cNvPr id="7" name="Rectangle 6"/>
          <p:cNvSpPr/>
          <p:nvPr/>
        </p:nvSpPr>
        <p:spPr>
          <a:xfrm>
            <a:off x="4297680" y="2286000"/>
            <a:ext cx="548640" cy="457200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0070C0"/>
                </a:solidFill>
              </a:defRPr>
            </a:pPr>
            <a:r>
              <a:t>C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3017520"/>
            <a:ext cx="548640" cy="457200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0070C0"/>
                </a:solidFill>
              </a:defRPr>
            </a:pPr>
            <a:r>
              <a:t>C2</a:t>
            </a:r>
          </a:p>
        </p:txBody>
      </p:sp>
      <p:sp>
        <p:nvSpPr>
          <p:cNvPr id="9" name="Rectangle 8"/>
          <p:cNvSpPr/>
          <p:nvPr/>
        </p:nvSpPr>
        <p:spPr>
          <a:xfrm>
            <a:off x="5212080" y="1828800"/>
            <a:ext cx="548640" cy="4572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F0000"/>
                </a:solidFill>
              </a:defRPr>
            </a:pPr>
            <a: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12080" y="2743200"/>
            <a:ext cx="548640" cy="4572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F0000"/>
                </a:solidFill>
              </a:defRPr>
            </a:pPr>
            <a:r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0" y="1371600"/>
            <a:ext cx="2286000" cy="3200400"/>
          </a:xfrm>
          <a:prstGeom prst="rect">
            <a:avLst/>
          </a:prstGeom>
          <a:noFill/>
          <a:ln w="19050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0" y="10972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/>
            </a:pPr>
            <a:r>
              <a:t>B/S/A (Data store)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40880" y="1828800"/>
            <a:ext cx="548640" cy="457200"/>
          </a:xfrm>
          <a:prstGeom prst="rect">
            <a:avLst/>
          </a:prstGeom>
          <a:noFill/>
          <a:ln w="19050">
            <a:solidFill>
              <a:srgbClr val="0070C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0070C0"/>
                </a:solidFill>
              </a:defRPr>
            </a:pPr>
            <a:r>
              <a:t>B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80960" y="1828800"/>
            <a:ext cx="548640" cy="457200"/>
          </a:xfrm>
          <a:prstGeom prst="rect">
            <a:avLst/>
          </a:prstGeom>
          <a:noFill/>
          <a:ln w="19050">
            <a:solidFill>
              <a:srgbClr val="0070C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0070C0"/>
                </a:solidFill>
              </a:defRPr>
            </a:pPr>
            <a:r>
              <a:t>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21040" y="1828800"/>
            <a:ext cx="548640" cy="457200"/>
          </a:xfrm>
          <a:prstGeom prst="rect">
            <a:avLst/>
          </a:prstGeom>
          <a:noFill/>
          <a:ln w="19050">
            <a:solidFill>
              <a:srgbClr val="0070C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0070C0"/>
                </a:solidFill>
              </a:defRPr>
            </a:pPr>
            <a:r>
              <a:t>A</a:t>
            </a:r>
          </a:p>
        </p:txBody>
      </p:sp>
      <p:sp>
        <p:nvSpPr>
          <p:cNvPr id="16" name="Up Arrow 15"/>
          <p:cNvSpPr/>
          <p:nvPr/>
        </p:nvSpPr>
        <p:spPr>
          <a:xfrm>
            <a:off x="5303520" y="3383280"/>
            <a:ext cx="365760" cy="1371600"/>
          </a:xfrm>
          <a:prstGeom prst="upArrow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0" y="48463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0000"/>
                </a:solidFill>
              </a:defRPr>
            </a:pPr>
            <a:r>
              <a:t>Dynamics Integration of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57200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070C0"/>
                </a:solidFill>
              </a:defRPr>
            </a:pPr>
            <a:r>
              <a:t>ADVISER ONE D/S:</a:t>
            </a:r>
            <a:br/>
            <a:r>
              <a:t>- SSO</a:t>
            </a:r>
            <a:br/>
            <a:r>
              <a:t>- Minimal Content</a:t>
            </a:r>
            <a:br/>
            <a:r>
              <a:t>- Forms for submission</a:t>
            </a:r>
            <a:br/>
            <a:r>
              <a:t>- Assurance interaction</a:t>
            </a:r>
            <a:br/>
            <a:r>
              <a:t>- Incidents interaction</a:t>
            </a:r>
            <a:br/>
            <a:r>
              <a:t>- Client Refund interactions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502920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00B050"/>
                </a:solidFill>
              </a:defRPr>
            </a:pPr>
            <a:r>
              <a:t>NOTES:</a:t>
            </a:r>
            <a:br/>
            <a:r>
              <a:t>1. IDS Cost &lt; RI/C B/S/A</a:t>
            </a:r>
            <a:br/>
            <a:r>
              <a:t>2. What we need to build for B/S/A</a:t>
            </a:r>
            <a:br/>
            <a:r>
              <a:t>3. What reporting needs to be built</a:t>
            </a:r>
            <a:br/>
            <a:r>
              <a:t>4. Adviser One?</a:t>
            </a:r>
            <a:br/>
            <a:r>
              <a:t>5. What data (if any) do we need to migrate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Option 2: 2 Operational Instances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3200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2 operational instances</a:t>
            </a:r>
          </a:p>
          <a:p>
            <a:r>
              <a:t>No Data Move</a:t>
            </a:r>
          </a:p>
          <a:p>
            <a:r>
              <a:t>Operate Separately</a:t>
            </a:r>
          </a:p>
          <a:p>
            <a:r>
              <a:t>Set up new AFSL</a:t>
            </a:r>
          </a:p>
          <a:p>
            <a:r>
              <a:t>No AI enablement (onboarding)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1371600"/>
            <a:ext cx="2286000" cy="3200400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0" y="10972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/>
            </a:pPr>
            <a:r>
              <a:t>RA</a:t>
            </a:r>
          </a:p>
        </p:txBody>
      </p:sp>
      <p:sp>
        <p:nvSpPr>
          <p:cNvPr id="6" name="Rectangle 5"/>
          <p:cNvSpPr/>
          <p:nvPr/>
        </p:nvSpPr>
        <p:spPr>
          <a:xfrm>
            <a:off x="4297680" y="1554480"/>
            <a:ext cx="548640" cy="457200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0070C0"/>
                </a:solidFill>
              </a:defRPr>
            </a:pPr>
            <a:r>
              <a:t>RI</a:t>
            </a:r>
          </a:p>
        </p:txBody>
      </p:sp>
      <p:sp>
        <p:nvSpPr>
          <p:cNvPr id="7" name="Rectangle 6"/>
          <p:cNvSpPr/>
          <p:nvPr/>
        </p:nvSpPr>
        <p:spPr>
          <a:xfrm>
            <a:off x="4297680" y="2286000"/>
            <a:ext cx="548640" cy="457200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0070C0"/>
                </a:solidFill>
              </a:defRPr>
            </a:pPr>
            <a:r>
              <a:t>C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3017520"/>
            <a:ext cx="548640" cy="457200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0070C0"/>
                </a:solidFill>
              </a:defRPr>
            </a:pPr>
            <a:r>
              <a:t>C2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0" y="1371600"/>
            <a:ext cx="2286000" cy="3200400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0" y="10972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/>
            </a:pPr>
            <a:r>
              <a:t>B/S/A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80" y="1554480"/>
            <a:ext cx="548640" cy="457200"/>
          </a:xfrm>
          <a:prstGeom prst="rect">
            <a:avLst/>
          </a:prstGeom>
          <a:noFill/>
          <a:ln w="19050">
            <a:solidFill>
              <a:srgbClr val="0070C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0070C0"/>
                </a:solidFill>
              </a:defRPr>
            </a:pPr>
            <a:r>
              <a:t>B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80960" y="1554480"/>
            <a:ext cx="548640" cy="457200"/>
          </a:xfrm>
          <a:prstGeom prst="rect">
            <a:avLst/>
          </a:prstGeom>
          <a:noFill/>
          <a:ln w="19050">
            <a:solidFill>
              <a:srgbClr val="0070C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0070C0"/>
                </a:solidFill>
              </a:defRPr>
            </a:pPr>
            <a:r>
              <a:t>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21040" y="1554480"/>
            <a:ext cx="548640" cy="457200"/>
          </a:xfrm>
          <a:prstGeom prst="rect">
            <a:avLst/>
          </a:prstGeom>
          <a:noFill/>
          <a:ln w="19050">
            <a:solidFill>
              <a:srgbClr val="0070C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0070C0"/>
                </a:solidFill>
              </a:defRPr>
            </a:pPr>
            <a:r>
              <a:t>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0" y="2468880"/>
            <a:ext cx="548640" cy="4572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F0000"/>
                </a:solidFill>
              </a:defRPr>
            </a:pPr>
            <a:r>
              <a:t>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0" y="2468880"/>
            <a:ext cx="548640" cy="4572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F0000"/>
                </a:solidFill>
              </a:defRPr>
            </a:pPr>
            <a:r>
              <a:t>2</a:t>
            </a:r>
          </a:p>
        </p:txBody>
      </p:sp>
      <p:sp>
        <p:nvSpPr>
          <p:cNvPr id="16" name="Up Arrow 15"/>
          <p:cNvSpPr/>
          <p:nvPr/>
        </p:nvSpPr>
        <p:spPr>
          <a:xfrm>
            <a:off x="7772400" y="3200400"/>
            <a:ext cx="365760" cy="1371600"/>
          </a:xfrm>
          <a:prstGeom prst="upArrow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498080" y="46634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0000"/>
                </a:solidFill>
              </a:defRPr>
            </a:pPr>
            <a:r>
              <a:t>Dynamics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502920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00B050"/>
                </a:solidFill>
              </a:defRPr>
            </a:pPr>
            <a:r>
              <a:t>NOTES:</a:t>
            </a:r>
            <a:br/>
            <a:r>
              <a:t>- IDS Uplift only for RI</a:t>
            </a:r>
            <a:br/>
            <a:r>
              <a:t>- Adviser One?</a:t>
            </a:r>
            <a:br/>
            <a:r>
              <a:t>- # Licences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Option 3: Move all to One S/F Instance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3200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Move all to One S/F instance</a:t>
            </a:r>
          </a:p>
          <a:p>
            <a:r>
              <a:t>Back to Pre-Theme structure</a:t>
            </a:r>
          </a:p>
          <a:p>
            <a:r>
              <a:t>AI enabled (onboarding)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1371600"/>
            <a:ext cx="2286000" cy="3200400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0" y="10972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/>
            </a:pPr>
            <a:r>
              <a:t>RA (Consolidated)</a:t>
            </a:r>
          </a:p>
        </p:txBody>
      </p:sp>
      <p:sp>
        <p:nvSpPr>
          <p:cNvPr id="6" name="Rectangle 5"/>
          <p:cNvSpPr/>
          <p:nvPr/>
        </p:nvSpPr>
        <p:spPr>
          <a:xfrm>
            <a:off x="4297680" y="1554480"/>
            <a:ext cx="548640" cy="457200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0070C0"/>
                </a:solidFill>
              </a:defRPr>
            </a:pPr>
            <a:r>
              <a:t>RI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0" y="1554480"/>
            <a:ext cx="548640" cy="4572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F0000"/>
                </a:solidFill>
              </a:defRPr>
            </a:pPr>
            <a:r>
              <a:t>B</a:t>
            </a:r>
          </a:p>
        </p:txBody>
      </p:sp>
      <p:sp>
        <p:nvSpPr>
          <p:cNvPr id="8" name="Rectangle 7"/>
          <p:cNvSpPr/>
          <p:nvPr/>
        </p:nvSpPr>
        <p:spPr>
          <a:xfrm>
            <a:off x="5760720" y="1554480"/>
            <a:ext cx="548640" cy="4572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F0000"/>
                </a:solidFill>
              </a:defRPr>
            </a:pPr>
            <a:r>
              <a:t>S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2286000"/>
            <a:ext cx="548640" cy="457200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0070C0"/>
                </a:solidFill>
              </a:defRPr>
            </a:pPr>
            <a:r>
              <a:t>C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548640" cy="457200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F0000"/>
                </a:solidFill>
              </a:defRPr>
            </a:pPr>
            <a:r>
              <a:t>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60720" y="2286000"/>
            <a:ext cx="548640" cy="457200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F0000"/>
                </a:solidFill>
              </a:defRPr>
            </a:pPr>
            <a: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3017520"/>
            <a:ext cx="548640" cy="457200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0070C0"/>
                </a:solidFill>
              </a:defRPr>
            </a:pPr>
            <a:r>
              <a:t>C2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0" y="1371600"/>
            <a:ext cx="2286000" cy="3200400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58000" y="10972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/>
            </a:pPr>
            <a:r>
              <a:t>B/S/A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858000" y="1371600"/>
            <a:ext cx="2286000" cy="320040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6858000" y="1371600"/>
            <a:ext cx="2286000" cy="320040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7040880" y="1828800"/>
            <a:ext cx="548640" cy="457200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0070C0"/>
                </a:solidFill>
              </a:defRPr>
            </a:pPr>
            <a:r>
              <a:t>B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80960" y="1828800"/>
            <a:ext cx="548640" cy="457200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0070C0"/>
                </a:solidFill>
              </a:defRPr>
            </a:pPr>
            <a:r>
              <a:t>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21040" y="1828800"/>
            <a:ext cx="548640" cy="457200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0070C0"/>
                </a:solidFill>
              </a:defRPr>
            </a:pPr>
            <a:r>
              <a:t>A</a:t>
            </a:r>
          </a:p>
        </p:txBody>
      </p:sp>
      <p:sp>
        <p:nvSpPr>
          <p:cNvPr id="20" name="Left Arrow 19"/>
          <p:cNvSpPr/>
          <p:nvPr/>
        </p:nvSpPr>
        <p:spPr>
          <a:xfrm>
            <a:off x="6492240" y="3657600"/>
            <a:ext cx="3657600" cy="274320"/>
          </a:xfrm>
          <a:prstGeom prst="leftArrow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29600" y="39319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00B050"/>
                </a:solidFill>
              </a:defRPr>
            </a:pPr>
            <a:r>
              <a:t>migrate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502920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00B050"/>
                </a:solidFill>
              </a:defRPr>
            </a:pPr>
            <a:r>
              <a:t>NOTES:</a:t>
            </a:r>
            <a:br/>
            <a:r>
              <a:t>- Cost/Time for full data transfer</a:t>
            </a:r>
            <a:br/>
            <a:r>
              <a:t>- Cost to rebuild elements/capabilities</a:t>
            </a:r>
            <a:br/>
            <a:r>
              <a:t>- Reporting uplift cost</a:t>
            </a:r>
            <a:br/>
            <a:r>
              <a:t>- IDS uplift</a:t>
            </a:r>
            <a:br/>
            <a:r>
              <a:t>- Ads One?</a:t>
            </a:r>
            <a:br/>
            <a:r>
              <a:t>- # Licenses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314</Words>
  <Application>Microsoft Office PowerPoint</Application>
  <PresentationFormat>On-screen Show (4:3)</PresentationFormat>
  <Paragraphs>57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Abhijeet Gautam</dc:creator>
  <cp:keywords/>
  <dc:description>generated using python-pptx</dc:description>
  <cp:lastModifiedBy>Abhijeet Gautam</cp:lastModifiedBy>
  <cp:revision>1</cp:revision>
  <dcterms:created xsi:type="dcterms:W3CDTF">2013-01-27T09:14:16Z</dcterms:created>
  <dcterms:modified xsi:type="dcterms:W3CDTF">2026-02-10T11:02:33Z</dcterms:modified>
  <cp:category/>
</cp:coreProperties>
</file>