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2" d="100"/>
          <a:sy n="62" d="100"/>
        </p:scale>
        <p:origin x="1400" y="2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Option 1 – New AFSe in RA Instance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2286000" cy="109728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/>
            </a:pPr>
            <a:r>
              <a:t>Existing B / S / A Data Store</a:t>
            </a:r>
          </a:p>
          <a:p>
            <a:r>
              <a:t>(Minimal Access)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0" y="1097280"/>
            <a:ext cx="2286000" cy="109728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/>
            </a:pPr>
            <a:r>
              <a:t>New AFSe</a:t>
            </a:r>
          </a:p>
          <a:p>
            <a:r>
              <a:t>RA Instance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0" y="1097280"/>
            <a:ext cx="2011680" cy="109728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/>
            </a:pPr>
            <a:r>
              <a:t>Adviser (Joe)</a:t>
            </a:r>
          </a:p>
          <a:p>
            <a:r>
              <a:t>SSO, Forms, Assurance</a:t>
            </a:r>
          </a:p>
        </p:txBody>
      </p:sp>
      <p:sp>
        <p:nvSpPr>
          <p:cNvPr id="7" name="Rectangle 6"/>
          <p:cNvSpPr/>
          <p:nvPr/>
        </p:nvSpPr>
        <p:spPr>
          <a:xfrm>
            <a:off x="1371600" y="2743200"/>
            <a:ext cx="6400800" cy="201168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/>
            </a:pPr>
            <a:r>
              <a:t>• Minimal data transfer from BSA to RA</a:t>
            </a:r>
          </a:p>
          <a:p>
            <a:r>
              <a:t>• New adviser record</a:t>
            </a:r>
          </a:p>
          <a:p>
            <a:r>
              <a:t>• Limited reporting build</a:t>
            </a:r>
          </a:p>
          <a:p>
            <a:r>
              <a:t>• IDS cost lower than RI/C</a:t>
            </a:r>
          </a:p>
          <a:p>
            <a:r>
              <a:t>• Decide data migration scope (if any)</a:t>
            </a:r>
          </a:p>
        </p:txBody>
      </p:sp>
      <p:cxnSp>
        <p:nvCxnSpPr>
          <p:cNvPr id="8" name="Connector 7"/>
          <p:cNvCxnSpPr>
            <a:stCxn id="4" idx="2"/>
            <a:endCxn id="5" idx="0"/>
          </p:cNvCxnSpPr>
          <p:nvPr/>
        </p:nvCxnSpPr>
        <p:spPr>
          <a:xfrm flipV="1">
            <a:off x="1600200" y="1097280"/>
            <a:ext cx="3200400" cy="109728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>
            <a:stCxn id="5" idx="2"/>
            <a:endCxn id="6" idx="0"/>
          </p:cNvCxnSpPr>
          <p:nvPr/>
        </p:nvCxnSpPr>
        <p:spPr>
          <a:xfrm flipV="1">
            <a:off x="4800600" y="1097280"/>
            <a:ext cx="2788920" cy="109728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Option 2 – Two Operational Instances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097280"/>
            <a:ext cx="2560320" cy="109728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/>
            </a:pPr>
            <a:r>
              <a:t>RA Instance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4754880" y="1097280"/>
            <a:ext cx="2560320" cy="109728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/>
            </a:pPr>
            <a:r>
              <a:t>RI Instance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1097280" y="2743200"/>
            <a:ext cx="6400800" cy="201168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/>
            </a:pPr>
            <a:r>
              <a:t>• Two separate operational instances</a:t>
            </a:r>
          </a:p>
          <a:p>
            <a:r>
              <a:t>• No data movement</a:t>
            </a:r>
          </a:p>
          <a:p>
            <a:r>
              <a:t>• Operate independently</a:t>
            </a:r>
          </a:p>
          <a:p>
            <a:r>
              <a:t>• No AI enablement (onboarding)</a:t>
            </a:r>
          </a:p>
          <a:p>
            <a:r>
              <a:t>• IDS uplift only for RI</a:t>
            </a:r>
          </a:p>
          <a:p>
            <a:r>
              <a:t>• Separate licensing and reporting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Option 3 – Single Instance (Future State)</a:t>
            </a:r>
          </a:p>
        </p:txBody>
      </p:sp>
      <p:sp>
        <p:nvSpPr>
          <p:cNvPr id="4" name="Rectangle 3"/>
          <p:cNvSpPr/>
          <p:nvPr/>
        </p:nvSpPr>
        <p:spPr>
          <a:xfrm>
            <a:off x="2011680" y="1097280"/>
            <a:ext cx="4114800" cy="128016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/>
            </a:pPr>
            <a:r>
              <a:t>Single S/F Instance</a:t>
            </a:r>
          </a:p>
          <a:p>
            <a:r>
              <a:t>(All RA / RI / Adviser Data)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743200"/>
            <a:ext cx="2926080" cy="109728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/>
            </a:pPr>
            <a:r>
              <a:t>B / S / A</a:t>
            </a:r>
          </a:p>
          <a:p>
            <a:r>
              <a:t>(Data store &amp; reporting)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0" y="2743200"/>
            <a:ext cx="3200400" cy="109728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/>
            </a:pPr>
            <a:r>
              <a:t>AI Enabled</a:t>
            </a:r>
          </a:p>
          <a:p>
            <a:r>
              <a:t>(Onboarding &amp; Interactions)</a:t>
            </a:r>
          </a:p>
        </p:txBody>
      </p:sp>
      <p:sp>
        <p:nvSpPr>
          <p:cNvPr id="7" name="Rectangle 6"/>
          <p:cNvSpPr/>
          <p:nvPr/>
        </p:nvSpPr>
        <p:spPr>
          <a:xfrm>
            <a:off x="1097280" y="4206240"/>
            <a:ext cx="6400800" cy="18288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/>
            </a:pPr>
            <a:r>
              <a:t>• Full data migration required</a:t>
            </a:r>
          </a:p>
          <a:p>
            <a:r>
              <a:t>• Higher cost &amp; delivery time</a:t>
            </a:r>
          </a:p>
          <a:p>
            <a:r>
              <a:t>• Rebuild elements &amp; capabilities</a:t>
            </a:r>
          </a:p>
          <a:p>
            <a:r>
              <a:t>• Unified reporting</a:t>
            </a:r>
          </a:p>
          <a:p>
            <a:r>
              <a:t>• Future-ready licence model</a:t>
            </a:r>
          </a:p>
        </p:txBody>
      </p:sp>
      <p:cxnSp>
        <p:nvCxnSpPr>
          <p:cNvPr id="8" name="Connector 7"/>
          <p:cNvCxnSpPr>
            <a:stCxn id="5" idx="2"/>
            <a:endCxn id="4" idx="0"/>
          </p:cNvCxnSpPr>
          <p:nvPr/>
        </p:nvCxnSpPr>
        <p:spPr>
          <a:xfrm flipV="1">
            <a:off x="1920240" y="1097280"/>
            <a:ext cx="2148840" cy="27432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>
            <a:stCxn id="4" idx="2"/>
            <a:endCxn id="6" idx="0"/>
          </p:cNvCxnSpPr>
          <p:nvPr/>
        </p:nvCxnSpPr>
        <p:spPr>
          <a:xfrm>
            <a:off x="4069080" y="2377440"/>
            <a:ext cx="2560320" cy="36576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170</Words>
  <Application>Microsoft Office PowerPoint</Application>
  <PresentationFormat>On-screen Show (4:3)</PresentationFormat>
  <Paragraphs>33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Abhijeet Gautam</dc:creator>
  <cp:keywords/>
  <dc:description>generated using python-pptx</dc:description>
  <cp:lastModifiedBy>Abhijeet Gautam</cp:lastModifiedBy>
  <cp:revision>1</cp:revision>
  <dcterms:created xsi:type="dcterms:W3CDTF">2013-01-27T09:14:16Z</dcterms:created>
  <dcterms:modified xsi:type="dcterms:W3CDTF">2026-02-10T11:02:16Z</dcterms:modified>
  <cp:category/>
</cp:coreProperties>
</file>